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8" r:id="rId2"/>
    <p:sldId id="260" r:id="rId3"/>
    <p:sldId id="263" r:id="rId4"/>
    <p:sldId id="262" r:id="rId5"/>
    <p:sldId id="264" r:id="rId6"/>
    <p:sldId id="266" r:id="rId7"/>
    <p:sldId id="271" r:id="rId8"/>
    <p:sldId id="265" r:id="rId9"/>
    <p:sldId id="276" r:id="rId10"/>
    <p:sldId id="277" r:id="rId11"/>
    <p:sldId id="267" r:id="rId12"/>
    <p:sldId id="269" r:id="rId13"/>
    <p:sldId id="26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1" d="100"/>
          <a:sy n="51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C2C4D9E-D731-4383-A90D-285C987990D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1EF3-8E9B-427E-8C0C-2F6F0344A91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43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4D9E-D731-4383-A90D-285C987990D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1EF3-8E9B-427E-8C0C-2F6F0344A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6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4D9E-D731-4383-A90D-285C987990D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1EF3-8E9B-427E-8C0C-2F6F0344A91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75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4D9E-D731-4383-A90D-285C987990D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1EF3-8E9B-427E-8C0C-2F6F0344A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9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4D9E-D731-4383-A90D-285C987990D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1EF3-8E9B-427E-8C0C-2F6F0344A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8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4D9E-D731-4383-A90D-285C987990D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1EF3-8E9B-427E-8C0C-2F6F0344A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15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4D9E-D731-4383-A90D-285C987990D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1EF3-8E9B-427E-8C0C-2F6F0344A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1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4D9E-D731-4383-A90D-285C987990D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1EF3-8E9B-427E-8C0C-2F6F0344A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78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4D9E-D731-4383-A90D-285C987990D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1EF3-8E9B-427E-8C0C-2F6F0344A91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42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4D9E-D731-4383-A90D-285C987990D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1EF3-8E9B-427E-8C0C-2F6F0344A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13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4D9E-D731-4383-A90D-285C987990D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C1EF3-8E9B-427E-8C0C-2F6F0344A91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077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C2C4D9E-D731-4383-A90D-285C987990D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76C1EF3-8E9B-427E-8C0C-2F6F0344A91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665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physics.stackexchange.com/questions/107113/calculate-the-average-temperature-needed-for-hydrogen-fusion-reaction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hem.libretexts.org/Courses/Valley_City_State_University/Chem_122/Chapter_9:_Nuclear_Chemistry/9.7:_Nuclear_Fusion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io.libretexts.org/Bookshelves/Ecology/Environmental_Science/05:_Energy/5.02:_Nuclear_Energy/5.2.01:_Radioactive_Isotope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sa/3.0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abble.ca/blogs/bloggers/david-suzuki/2016/09/carbon-dioxide-pollutant-or-plant-food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hembam.com/online-resources/experiments/fuel-cells-for-future-energy/" TargetMode="Externa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sbooks.bccampus.ca/universityphysicssandbox/chapter/sources-of-energy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schatz.com/chemistry-book/contents/m51201.html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-you-polaroid-letters-2490552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_new_logo">
            <a:extLst>
              <a:ext uri="{FF2B5EF4-FFF2-40B4-BE49-F238E27FC236}">
                <a16:creationId xmlns:a16="http://schemas.microsoft.com/office/drawing/2014/main" id="{D07BDCF2-ED1A-8BB0-8453-979CE8C49F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886" y="677566"/>
            <a:ext cx="5467350" cy="119634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444484-2614-5432-8CFF-7666ED400B6A}"/>
              </a:ext>
            </a:extLst>
          </p:cNvPr>
          <p:cNvSpPr txBox="1"/>
          <p:nvPr/>
        </p:nvSpPr>
        <p:spPr>
          <a:xfrm>
            <a:off x="7376160" y="3770376"/>
            <a:ext cx="44512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Group of Fusion Force</a:t>
            </a:r>
            <a:r>
              <a:rPr lang="en-US" sz="2000" b="1" dirty="0"/>
              <a:t>: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Maryum Sami</a:t>
            </a:r>
          </a:p>
          <a:p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Abid</a:t>
            </a:r>
            <a:b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Maria Fazal</a:t>
            </a:r>
          </a:p>
          <a:p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Sohail Ahmed</a:t>
            </a:r>
          </a:p>
          <a:p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Irsa Riaz</a:t>
            </a:r>
            <a:endParaRPr lang="en-US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15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A79F32-D061-B193-FD6D-7B5CF99BD4DB}"/>
              </a:ext>
            </a:extLst>
          </p:cNvPr>
          <p:cNvSpPr txBox="1"/>
          <p:nvPr/>
        </p:nvSpPr>
        <p:spPr>
          <a:xfrm>
            <a:off x="0" y="12192"/>
            <a:ext cx="12192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NUCLEAR FUSION</a:t>
            </a:r>
          </a:p>
          <a:p>
            <a:br>
              <a:rPr lang="en-US" sz="2400" b="1" u="sng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rPr>
              <a:t>Nuclear Fusion:</a:t>
            </a:r>
          </a:p>
          <a:p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Light SemiCondensed" panose="020B0502040204020203" pitchFamily="34" charset="0"/>
            </a:endParaRPr>
          </a:p>
          <a:p>
            <a:r>
              <a:rPr lang="en-US" sz="2400" dirty="0"/>
              <a:t>"In the 1920s, Arthur Eddington suggested that the Sun’s energy comes from hydrogen fusion.”</a:t>
            </a:r>
          </a:p>
          <a:p>
            <a:endParaRPr lang="en-US" sz="2400" dirty="0"/>
          </a:p>
          <a:p>
            <a:r>
              <a:rPr lang="en-US" sz="2400" dirty="0"/>
              <a:t>It is a process in which two light nuclei combine to form a heavier nucleus, releasing a large </a:t>
            </a:r>
          </a:p>
          <a:p>
            <a:r>
              <a:rPr lang="en-US" sz="2400" dirty="0"/>
              <a:t>amount of energy.</a:t>
            </a:r>
          </a:p>
          <a:p>
            <a:endParaRPr lang="en-US" sz="3200" dirty="0">
              <a:latin typeface="Bahnschrift Light SemiCondensed" panose="020B0502040204020203" pitchFamily="34" charset="0"/>
            </a:endParaRPr>
          </a:p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SemiCondensed" panose="020B0502040204020203" pitchFamily="34" charset="0"/>
              </a:rPr>
              <a:t>Example</a:t>
            </a:r>
            <a:r>
              <a:rPr lang="en-US" sz="3200" b="1" dirty="0">
                <a:latin typeface="Bahnschrift Light SemiCondensed" panose="020B0502040204020203" pitchFamily="34" charset="0"/>
              </a:rPr>
              <a:t>:</a:t>
            </a:r>
          </a:p>
          <a:p>
            <a:br>
              <a:rPr lang="en-US" sz="3200" dirty="0">
                <a:latin typeface="Bahnschrift Light SemiCondensed" panose="020B0502040204020203" pitchFamily="34" charset="0"/>
              </a:rPr>
            </a:br>
            <a:r>
              <a:rPr lang="en-US" sz="2400" dirty="0"/>
              <a:t>Hydrogen nuclei fuse to form helium </a:t>
            </a:r>
          </a:p>
          <a:p>
            <a:r>
              <a:rPr lang="en-US" sz="2400" dirty="0"/>
              <a:t>In the sun.</a:t>
            </a:r>
            <a:br>
              <a:rPr lang="en-US" sz="2400" dirty="0"/>
            </a:br>
            <a:endParaRPr lang="en-US" sz="24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5956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445E23-FF25-CD88-78E6-773FEEC18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11606" y="1592826"/>
            <a:ext cx="7109374" cy="39374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C74124-7C4C-025B-9733-C213B71CB1C5}"/>
              </a:ext>
            </a:extLst>
          </p:cNvPr>
          <p:cNvSpPr txBox="1"/>
          <p:nvPr/>
        </p:nvSpPr>
        <p:spPr>
          <a:xfrm>
            <a:off x="2890684" y="825910"/>
            <a:ext cx="49702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Nuclear Fusion</a:t>
            </a:r>
          </a:p>
        </p:txBody>
      </p:sp>
    </p:spTree>
    <p:extLst>
      <p:ext uri="{BB962C8B-B14F-4D97-AF65-F5344CB8AC3E}">
        <p14:creationId xmlns:p14="http://schemas.microsoft.com/office/powerpoint/2010/main" val="2734213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C23F38-CA1D-A894-D65D-963FB00DEE08}"/>
              </a:ext>
            </a:extLst>
          </p:cNvPr>
          <p:cNvSpPr txBox="1"/>
          <p:nvPr/>
        </p:nvSpPr>
        <p:spPr>
          <a:xfrm>
            <a:off x="604684" y="442453"/>
            <a:ext cx="9866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Controlled vs Uncontrolled Nuclear Fusion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E82D5F-2286-154D-5636-96D0C730DFE9}"/>
              </a:ext>
            </a:extLst>
          </p:cNvPr>
          <p:cNvSpPr txBox="1"/>
          <p:nvPr/>
        </p:nvSpPr>
        <p:spPr>
          <a:xfrm>
            <a:off x="337148" y="948690"/>
            <a:ext cx="11854852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/>
              <a:t>Control of Reaction: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Controlled Fusion: </a:t>
            </a:r>
            <a:r>
              <a:rPr lang="en-US" sz="2400" dirty="0"/>
              <a:t>Reaction is carefully controlled.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Uncontrolled Fusion</a:t>
            </a:r>
            <a:r>
              <a:rPr lang="en-US" sz="2400" dirty="0"/>
              <a:t>: Reaction is not controlled; it happens suddenly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b="1" dirty="0"/>
              <a:t>. Energy Release: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Controlled Fusion: </a:t>
            </a:r>
            <a:r>
              <a:rPr lang="en-US" sz="2400" dirty="0"/>
              <a:t>Energy is released gradually and safely.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Uncontrolled Fusion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/>
              <a:t>Energy is released instantly and massively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b="1" dirty="0"/>
              <a:t>. Use/Purpose: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Controlled Fusion: </a:t>
            </a:r>
            <a:r>
              <a:rPr lang="en-US" sz="2400" dirty="0"/>
              <a:t>Used for peaceful purposes, like power plants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Uncontrolled Fusion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/>
              <a:t>Used for destructive purposes, like hydrogen bombs.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67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726A30-6B96-5948-008D-D88482FC7382}"/>
              </a:ext>
            </a:extLst>
          </p:cNvPr>
          <p:cNvSpPr txBox="1"/>
          <p:nvPr/>
        </p:nvSpPr>
        <p:spPr>
          <a:xfrm>
            <a:off x="0" y="237119"/>
            <a:ext cx="12106656" cy="735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4. Safety: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Controlled Fusion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/>
              <a:t>Safe for humans and environment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Uncontrolled Fusion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/>
              <a:t>Extremely dangerous, can cause explosions and destruction.</a:t>
            </a:r>
          </a:p>
          <a:p>
            <a:pPr algn="ctr"/>
            <a:endParaRPr lang="en-US" sz="3200" b="1" u="sng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US" sz="3200" b="1" u="sng" dirty="0">
                <a:solidFill>
                  <a:schemeClr val="accent2">
                    <a:lumMod val="75000"/>
                  </a:schemeClr>
                </a:solidFill>
              </a:rPr>
              <a:t>“Nuclear Fusion Processes”</a:t>
            </a:r>
          </a:p>
          <a:p>
            <a:pPr algn="ctr"/>
            <a:endParaRPr lang="en-US" sz="32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/>
              <a:t>1.Proton-Proton Chain (pp-chain):</a:t>
            </a:r>
          </a:p>
          <a:p>
            <a:r>
              <a:rPr lang="en-US" sz="2800" dirty="0"/>
              <a:t>Occurs in the Sun and small stars</a:t>
            </a:r>
          </a:p>
          <a:p>
            <a:r>
              <a:rPr lang="en-US" sz="2800" dirty="0"/>
              <a:t>Energy is released as light and heat.</a:t>
            </a:r>
          </a:p>
          <a:p>
            <a:endParaRPr lang="en-US" sz="2800" dirty="0"/>
          </a:p>
          <a:p>
            <a:r>
              <a:rPr lang="en-US" sz="2400" b="1" dirty="0"/>
              <a:t>2.CNO Cycle (Carbon-Nitrogen-Oxygen Cycle):</a:t>
            </a:r>
            <a:endParaRPr lang="en-US" sz="2000" b="1" dirty="0"/>
          </a:p>
          <a:p>
            <a:r>
              <a:rPr lang="en-US" sz="2800" dirty="0"/>
              <a:t>Occurs in massive stars</a:t>
            </a:r>
          </a:p>
          <a:p>
            <a:r>
              <a:rPr lang="en-US" sz="2800" dirty="0"/>
              <a:t>Produces more energy than the pp-chain</a:t>
            </a:r>
          </a:p>
          <a:p>
            <a:endParaRPr lang="en-US" sz="28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5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DA6DA-BA45-F513-4A2F-8651549B8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852" y="1224427"/>
            <a:ext cx="8362336" cy="542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B292C3-FF13-CFC5-C8DC-5D022C717EF4}"/>
              </a:ext>
            </a:extLst>
          </p:cNvPr>
          <p:cNvSpPr txBox="1"/>
          <p:nvPr/>
        </p:nvSpPr>
        <p:spPr>
          <a:xfrm>
            <a:off x="958645" y="345965"/>
            <a:ext cx="95274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carbon –Nitrogen – Oxygen(CNO) cycle</a:t>
            </a:r>
          </a:p>
          <a:p>
            <a:endParaRPr lang="en-US" sz="3600" u="sn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6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62AD0E0-4B3F-3B34-E0F0-3447F96EC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94" y="103238"/>
            <a:ext cx="10913806" cy="675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344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1454090-9DA8-9CD5-8207-8174E0886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595716" y="1430593"/>
            <a:ext cx="5855109" cy="52651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F9A649-2D31-BCA3-E78B-C8E1C617638F}"/>
              </a:ext>
            </a:extLst>
          </p:cNvPr>
          <p:cNvSpPr txBox="1"/>
          <p:nvPr/>
        </p:nvSpPr>
        <p:spPr>
          <a:xfrm>
            <a:off x="516194" y="427703"/>
            <a:ext cx="10545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The Proton-Proton Cycle or Chain (pp-chain):</a:t>
            </a:r>
            <a:endParaRPr lang="en-US" sz="3600" dirty="0">
              <a:solidFill>
                <a:schemeClr val="tx2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517312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ذيلى عنوان 2">
            <a:extLst>
              <a:ext uri="{FF2B5EF4-FFF2-40B4-BE49-F238E27FC236}">
                <a16:creationId xmlns:a16="http://schemas.microsoft.com/office/drawing/2014/main" id="{527DED3D-83B8-F098-7884-9E57E83B9BAA}"/>
              </a:ext>
            </a:extLst>
          </p:cNvPr>
          <p:cNvSpPr txBox="1">
            <a:spLocks/>
          </p:cNvSpPr>
          <p:nvPr/>
        </p:nvSpPr>
        <p:spPr>
          <a:xfrm>
            <a:off x="1524000" y="2231136"/>
            <a:ext cx="9144000" cy="3026664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Bell MT" panose="02020503060305020303" pitchFamily="18" charset="0"/>
              </a:rPr>
              <a:t>It is the </a:t>
            </a:r>
            <a:r>
              <a:rPr lang="en-US" sz="2800" b="1">
                <a:latin typeface="Bell MT" panose="02020503060305020303" pitchFamily="18" charset="0"/>
              </a:rPr>
              <a:t>scientific equation or example</a:t>
            </a:r>
            <a:r>
              <a:rPr lang="en-US" sz="2800">
                <a:latin typeface="Bell MT" panose="02020503060305020303" pitchFamily="18" charset="0"/>
              </a:rPr>
              <a:t> of the fusion process.</a:t>
            </a:r>
            <a:br>
              <a:rPr lang="en-US" sz="2800">
                <a:latin typeface="Bell MT" panose="02020503060305020303" pitchFamily="18" charset="0"/>
              </a:rPr>
            </a:br>
            <a:r>
              <a:rPr lang="en-US" sz="2800">
                <a:latin typeface="Bell MT" panose="02020503060305020303" pitchFamily="18" charset="0"/>
              </a:rPr>
              <a:t>In other words, when we </a:t>
            </a:r>
            <a:r>
              <a:rPr lang="en-US" sz="2800" b="1">
                <a:latin typeface="Bell MT" panose="02020503060305020303" pitchFamily="18" charset="0"/>
              </a:rPr>
              <a:t>write the actual reaction</a:t>
            </a:r>
            <a:r>
              <a:rPr lang="en-US" sz="2800">
                <a:latin typeface="Bell MT" panose="02020503060305020303" pitchFamily="18" charset="0"/>
              </a:rPr>
              <a:t> that takes place during fusion,</a:t>
            </a:r>
            <a:br>
              <a:rPr lang="en-US" sz="2800">
                <a:latin typeface="Bell MT" panose="02020503060305020303" pitchFamily="18" charset="0"/>
              </a:rPr>
            </a:br>
            <a:r>
              <a:rPr lang="en-US" sz="2800">
                <a:latin typeface="Bell MT" panose="02020503060305020303" pitchFamily="18" charset="0"/>
              </a:rPr>
              <a:t>it is called a </a:t>
            </a:r>
            <a:r>
              <a:rPr lang="en-US" sz="2800" b="1">
                <a:latin typeface="Bell MT" panose="02020503060305020303" pitchFamily="18" charset="0"/>
              </a:rPr>
              <a:t>Fusion Reaction</a:t>
            </a:r>
            <a:endParaRPr lang="en-US" sz="2800" dirty="0">
              <a:latin typeface="Bell MT" panose="02020503060305020303" pitchFamily="18" charset="0"/>
            </a:endParaRPr>
          </a:p>
        </p:txBody>
      </p:sp>
      <p:sp>
        <p:nvSpPr>
          <p:cNvPr id="3" name="عنوان 1">
            <a:extLst>
              <a:ext uri="{FF2B5EF4-FFF2-40B4-BE49-F238E27FC236}">
                <a16:creationId xmlns:a16="http://schemas.microsoft.com/office/drawing/2014/main" id="{641377E8-E412-028A-6FFE-E2AEAE18E2CC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1815909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2"/>
                </a:solidFill>
              </a:rPr>
              <a:t>Nuclear Fusion Reaction</a:t>
            </a:r>
            <a:br>
              <a:rPr lang="en-US" b="1" u="sng" dirty="0">
                <a:solidFill>
                  <a:schemeClr val="accent1"/>
                </a:solidFill>
              </a:rPr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44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891815B-93FF-2AD3-9216-498F844A8F9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Reaction Name:</a:t>
            </a:r>
            <a:br>
              <a:rPr lang="en-US" sz="3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tx2"/>
                </a:solidFill>
              </a:rPr>
              <a:t>Deuterium–Tritium Fusion Reaction</a:t>
            </a:r>
            <a:endParaRPr lang="en-US" sz="3200" b="1" u="sng" dirty="0">
              <a:solidFill>
                <a:schemeClr val="tx2"/>
              </a:solidFill>
            </a:endParaRPr>
          </a:p>
        </p:txBody>
      </p:sp>
      <p:pic>
        <p:nvPicPr>
          <p:cNvPr id="3" name="تصوير 6">
            <a:extLst>
              <a:ext uri="{FF2B5EF4-FFF2-40B4-BE49-F238E27FC236}">
                <a16:creationId xmlns:a16="http://schemas.microsoft.com/office/drawing/2014/main" id="{1C628DA8-E7E1-16F3-87BE-FFD647BC9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287" y="1483425"/>
            <a:ext cx="7595616" cy="1177956"/>
          </a:xfrm>
          <a:prstGeom prst="rect">
            <a:avLst/>
          </a:prstGeom>
        </p:spPr>
      </p:pic>
      <p:pic>
        <p:nvPicPr>
          <p:cNvPr id="4" name="مشمول مقام دار 4">
            <a:extLst>
              <a:ext uri="{FF2B5EF4-FFF2-40B4-BE49-F238E27FC236}">
                <a16:creationId xmlns:a16="http://schemas.microsoft.com/office/drawing/2014/main" id="{36F5B5A3-B599-15A9-BCD5-BD6EF0B87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287" y="3133344"/>
            <a:ext cx="6829425" cy="298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34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E97DB3-CE4F-0D21-0AA3-2AC3EA4BB366}"/>
              </a:ext>
            </a:extLst>
          </p:cNvPr>
          <p:cNvSpPr txBox="1"/>
          <p:nvPr/>
        </p:nvSpPr>
        <p:spPr>
          <a:xfrm>
            <a:off x="1002890" y="516194"/>
            <a:ext cx="8701548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Fission vs Fusion differences</a:t>
            </a:r>
          </a:p>
          <a:p>
            <a:pPr algn="ctr"/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800" b="1" dirty="0"/>
              <a:t>1.Definition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Fission → Heavy nucleus splits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Fusion → Light nuclei combine</a:t>
            </a:r>
          </a:p>
          <a:p>
            <a:r>
              <a:rPr lang="en-US" sz="2800" b="1" dirty="0"/>
              <a:t>2.Energy: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Fission → High, sudden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Fusion → Very high, gradual</a:t>
            </a:r>
          </a:p>
          <a:p>
            <a:r>
              <a:rPr lang="en-US" sz="2400" b="1" dirty="0"/>
              <a:t>3.Examples: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Fission → Nuclear reactor, atomic bomb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Fusion → Sun, stars, future reactors</a:t>
            </a:r>
          </a:p>
          <a:p>
            <a:r>
              <a:rPr lang="en-US" sz="2400" b="1" dirty="0"/>
              <a:t>4.Safety: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Fission → Risky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Fusion → Safer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58415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43D859-E5EB-293F-281B-1A2ACC540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65122" y="788745"/>
            <a:ext cx="9910917" cy="52835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2069C-D699-C7FA-79E4-F88767D816A5}"/>
              </a:ext>
            </a:extLst>
          </p:cNvPr>
          <p:cNvSpPr txBox="1"/>
          <p:nvPr/>
        </p:nvSpPr>
        <p:spPr>
          <a:xfrm>
            <a:off x="621487" y="6565295"/>
            <a:ext cx="112490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bio.libretexts.org/Bookshelves/Ecology/Environmental_Science/05:_Energy/5.02:_Nuclear_Energy/5.2.01:_Radioactive_Isotopes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608719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A8203D-0814-474C-3F97-922C875AA72A}"/>
              </a:ext>
            </a:extLst>
          </p:cNvPr>
          <p:cNvSpPr/>
          <p:nvPr/>
        </p:nvSpPr>
        <p:spPr>
          <a:xfrm>
            <a:off x="1076632" y="294968"/>
            <a:ext cx="10205883" cy="13542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Uses and Abuses of Nuclear Fusion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D24012-B42F-EE72-4AF7-E65056582CC3}"/>
              </a:ext>
            </a:extLst>
          </p:cNvPr>
          <p:cNvSpPr txBox="1"/>
          <p:nvPr/>
        </p:nvSpPr>
        <p:spPr>
          <a:xfrm>
            <a:off x="1548580" y="1917290"/>
            <a:ext cx="827384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Rounded MT Bold" panose="020F0704030504030204" pitchFamily="34" charset="0"/>
              </a:rPr>
              <a:t>Do you know the uses &amp; abuses of Nuclear Fusion?</a:t>
            </a:r>
          </a:p>
          <a:p>
            <a:endParaRPr lang="en-US" dirty="0"/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70BC8A1D-6190-BC53-B25E-16415FA8CC44}"/>
              </a:ext>
            </a:extLst>
          </p:cNvPr>
          <p:cNvSpPr/>
          <p:nvPr/>
        </p:nvSpPr>
        <p:spPr>
          <a:xfrm>
            <a:off x="162232" y="2300748"/>
            <a:ext cx="914400" cy="560439"/>
          </a:xfrm>
          <a:prstGeom prst="stripedRightArrow">
            <a:avLst>
              <a:gd name="adj1" fmla="val 50000"/>
              <a:gd name="adj2" fmla="val 5913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2228EE-EA63-92E8-C8CB-937C992DC0A9}"/>
              </a:ext>
            </a:extLst>
          </p:cNvPr>
          <p:cNvSpPr txBox="1"/>
          <p:nvPr/>
        </p:nvSpPr>
        <p:spPr>
          <a:xfrm>
            <a:off x="4542503" y="4336025"/>
            <a:ext cx="63270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“Have you ever thought… </a:t>
            </a:r>
            <a:r>
              <a:rPr lang="en-US" sz="8000" dirty="0"/>
              <a:t>🤔</a:t>
            </a:r>
            <a:r>
              <a:rPr lang="en-US" sz="3200" dirty="0"/>
              <a:t>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BCB875-3937-EAEC-CDD2-10F554C7FCD3}"/>
              </a:ext>
            </a:extLst>
          </p:cNvPr>
          <p:cNvSpPr txBox="1"/>
          <p:nvPr/>
        </p:nvSpPr>
        <p:spPr>
          <a:xfrm>
            <a:off x="9822425" y="3183235"/>
            <a:ext cx="15780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/>
              <a:t>💭</a:t>
            </a:r>
            <a:endParaRPr lang="en-US" sz="6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DAAD88-1CC6-170B-48A1-62438CA7304C}"/>
              </a:ext>
            </a:extLst>
          </p:cNvPr>
          <p:cNvSpPr txBox="1"/>
          <p:nvPr/>
        </p:nvSpPr>
        <p:spPr>
          <a:xfrm>
            <a:off x="1548580" y="3539613"/>
            <a:ext cx="6828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Rounded MT Bold" panose="020F0704030504030204" pitchFamily="34" charset="0"/>
              </a:rPr>
              <a:t>How does the Sun produce so much energy every second?</a:t>
            </a:r>
          </a:p>
        </p:txBody>
      </p:sp>
      <p:sp>
        <p:nvSpPr>
          <p:cNvPr id="16" name="Arrow: Striped Right 15">
            <a:extLst>
              <a:ext uri="{FF2B5EF4-FFF2-40B4-BE49-F238E27FC236}">
                <a16:creationId xmlns:a16="http://schemas.microsoft.com/office/drawing/2014/main" id="{17392438-2B86-4F66-C721-B9245D84F626}"/>
              </a:ext>
            </a:extLst>
          </p:cNvPr>
          <p:cNvSpPr/>
          <p:nvPr/>
        </p:nvSpPr>
        <p:spPr>
          <a:xfrm>
            <a:off x="132736" y="3716594"/>
            <a:ext cx="914400" cy="560439"/>
          </a:xfrm>
          <a:prstGeom prst="stripedRightArrow">
            <a:avLst>
              <a:gd name="adj1" fmla="val 50000"/>
              <a:gd name="adj2" fmla="val 5913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21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9AD29F-4A98-D0C2-F530-27B0AE407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85703" y="403494"/>
            <a:ext cx="4682613" cy="24576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7AA341-5415-677D-E435-B79BFF3907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173860" y="3480620"/>
            <a:ext cx="4906297" cy="32332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2DAFA6-0F9E-D9B9-4163-09E96C677FE5}"/>
              </a:ext>
            </a:extLst>
          </p:cNvPr>
          <p:cNvSpPr/>
          <p:nvPr/>
        </p:nvSpPr>
        <p:spPr>
          <a:xfrm>
            <a:off x="599768" y="403494"/>
            <a:ext cx="6032091" cy="13716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52400" dist="317500" dir="5400000" sx="90000" sy="-19000" rotWithShape="0">
              <a:prstClr val="black">
                <a:alpha val="15000"/>
              </a:prstClr>
            </a:outerShdw>
            <a:softEdge rad="1270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/>
            <a:contourClr>
              <a:srgbClr val="FFFFFF"/>
            </a:contourClr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i="1" dirty="0">
                <a:latin typeface="Bookman Old Style" panose="02050604050505020204" pitchFamily="18" charset="0"/>
              </a:rPr>
              <a:t>Uses of nuclear fusion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1506B8-680D-382A-C07B-B03DF647A719}"/>
              </a:ext>
            </a:extLst>
          </p:cNvPr>
          <p:cNvSpPr/>
          <p:nvPr/>
        </p:nvSpPr>
        <p:spPr>
          <a:xfrm>
            <a:off x="223684" y="2038643"/>
            <a:ext cx="6784258" cy="46752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Produces </a:t>
            </a:r>
            <a:r>
              <a:rPr lang="en-US" sz="2000" b="1" dirty="0">
                <a:solidFill>
                  <a:schemeClr val="tx1"/>
                </a:solidFill>
              </a:rPr>
              <a:t>clean and renewable energy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No greenhouse gases</a:t>
            </a:r>
            <a:r>
              <a:rPr lang="en-US" sz="2000" dirty="0">
                <a:solidFill>
                  <a:schemeClr val="tx1"/>
                </a:solidFill>
              </a:rPr>
              <a:t> or pollution.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Fuel (Hydrogen)</a:t>
            </a:r>
            <a:r>
              <a:rPr lang="en-US" sz="2000" dirty="0">
                <a:solidFill>
                  <a:schemeClr val="tx1"/>
                </a:solidFill>
              </a:rPr>
              <a:t> is easily available from water.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No danger of chain reaction or meltdown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Produces </a:t>
            </a:r>
            <a:r>
              <a:rPr lang="en-US" sz="2000" b="1" dirty="0">
                <a:solidFill>
                  <a:schemeClr val="tx1"/>
                </a:solidFill>
              </a:rPr>
              <a:t>less radioactive waste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Can power </a:t>
            </a:r>
            <a:r>
              <a:rPr lang="en-US" sz="2000" b="1" dirty="0">
                <a:solidFill>
                  <a:schemeClr val="tx1"/>
                </a:solidFill>
              </a:rPr>
              <a:t>spacecraft and future power plants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254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0906A3-E8EA-0242-D7B0-DC70E5BBC4E2}"/>
              </a:ext>
            </a:extLst>
          </p:cNvPr>
          <p:cNvSpPr txBox="1"/>
          <p:nvPr/>
        </p:nvSpPr>
        <p:spPr>
          <a:xfrm>
            <a:off x="2256503" y="501445"/>
            <a:ext cx="6946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Advantages of Nuclear Fusion: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19AE99-7861-393D-DCDD-3ECB0F4E6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65670" y="1150309"/>
            <a:ext cx="7728155" cy="514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01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5C60E0-07E1-9F1D-89AD-32E0D02D5D71}"/>
              </a:ext>
            </a:extLst>
          </p:cNvPr>
          <p:cNvSpPr/>
          <p:nvPr/>
        </p:nvSpPr>
        <p:spPr>
          <a:xfrm>
            <a:off x="599767" y="300255"/>
            <a:ext cx="6032091" cy="13716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52400" dist="317500" dir="5400000" sx="90000" sy="-19000" rotWithShape="0">
              <a:prstClr val="black">
                <a:alpha val="15000"/>
              </a:prstClr>
            </a:outerShdw>
            <a:softEdge rad="1270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/>
            <a:contourClr>
              <a:srgbClr val="FFFFFF"/>
            </a:contourClr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i="1" dirty="0">
                <a:latin typeface="Bookman Old Style" panose="02050604050505020204" pitchFamily="18" charset="0"/>
              </a:rPr>
              <a:t>Abuses of nuclear fusion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AA0556-EC61-517E-58EE-42F75BD8F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11961" y="300255"/>
            <a:ext cx="4980039" cy="610583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08EEA0-E123-EADA-7FD8-DFC2248FEB49}"/>
              </a:ext>
            </a:extLst>
          </p:cNvPr>
          <p:cNvSpPr/>
          <p:nvPr/>
        </p:nvSpPr>
        <p:spPr>
          <a:xfrm>
            <a:off x="223684" y="2109019"/>
            <a:ext cx="6784258" cy="46752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Produces </a:t>
            </a:r>
            <a:r>
              <a:rPr lang="en-US" b="1" dirty="0">
                <a:solidFill>
                  <a:schemeClr val="tx1"/>
                </a:solidFill>
              </a:rPr>
              <a:t>clean and </a:t>
            </a:r>
            <a:r>
              <a:rPr lang="en-US" dirty="0">
                <a:solidFill>
                  <a:schemeClr val="tx1"/>
                </a:solidFill>
              </a:rPr>
              <a:t>Used in </a:t>
            </a:r>
            <a:r>
              <a:rPr lang="en-US" b="1" dirty="0">
                <a:solidFill>
                  <a:schemeClr val="tx1"/>
                </a:solidFill>
              </a:rPr>
              <a:t>Hydrogen bombs (H-bombs)</a:t>
            </a:r>
            <a:r>
              <a:rPr lang="en-US" dirty="0">
                <a:solidFill>
                  <a:schemeClr val="tx1"/>
                </a:solidFill>
              </a:rPr>
              <a:t> – extremely dangerous.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Very costly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hard to control</a:t>
            </a:r>
            <a:r>
              <a:rPr lang="en-US" dirty="0">
                <a:solidFill>
                  <a:schemeClr val="tx1"/>
                </a:solidFill>
              </a:rPr>
              <a:t>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Can cause </a:t>
            </a:r>
            <a:r>
              <a:rPr lang="en-US" b="1" dirty="0">
                <a:solidFill>
                  <a:schemeClr val="tx1"/>
                </a:solidFill>
              </a:rPr>
              <a:t>radiation hazards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Misuse</a:t>
            </a:r>
            <a:r>
              <a:rPr lang="en-US" dirty="0">
                <a:solidFill>
                  <a:schemeClr val="tx1"/>
                </a:solidFill>
              </a:rPr>
              <a:t> can lead to war and destruction.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May cause </a:t>
            </a:r>
            <a:r>
              <a:rPr lang="en-US" b="1" dirty="0">
                <a:solidFill>
                  <a:schemeClr val="tx1"/>
                </a:solidFill>
              </a:rPr>
              <a:t>environmental harm</a:t>
            </a:r>
            <a:r>
              <a:rPr lang="en-US" dirty="0">
                <a:solidFill>
                  <a:schemeClr val="tx1"/>
                </a:solidFill>
              </a:rPr>
              <a:t> if mishandled.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 renewable energy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No greenhouse gases</a:t>
            </a:r>
            <a:r>
              <a:rPr lang="en-US" dirty="0">
                <a:solidFill>
                  <a:schemeClr val="tx1"/>
                </a:solidFill>
              </a:rPr>
              <a:t> or pollution.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Fuel (Hydrogen)</a:t>
            </a:r>
            <a:r>
              <a:rPr lang="en-US" dirty="0">
                <a:solidFill>
                  <a:schemeClr val="tx1"/>
                </a:solidFill>
              </a:rPr>
              <a:t> is easily available from water.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No danger of chain reaction or meltdown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Produces </a:t>
            </a:r>
            <a:r>
              <a:rPr lang="en-US" b="1" dirty="0">
                <a:solidFill>
                  <a:schemeClr val="tx1"/>
                </a:solidFill>
              </a:rPr>
              <a:t>less radioactive waste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Can power </a:t>
            </a:r>
            <a:r>
              <a:rPr lang="en-US" b="1" dirty="0">
                <a:solidFill>
                  <a:schemeClr val="tx1"/>
                </a:solidFill>
              </a:rPr>
              <a:t>spacecraft and future power plants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93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D5BD67-EE55-8938-4E65-3826C8F69B60}"/>
              </a:ext>
            </a:extLst>
          </p:cNvPr>
          <p:cNvSpPr txBox="1"/>
          <p:nvPr/>
        </p:nvSpPr>
        <p:spPr>
          <a:xfrm>
            <a:off x="1106129" y="737420"/>
            <a:ext cx="85245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Once Again, I am repeating this topic:</a:t>
            </a:r>
          </a:p>
          <a:p>
            <a:r>
              <a:rPr lang="en-US" sz="2800" dirty="0"/>
              <a:t>“Nuclear Fusion and Fission are two ways to release nuclear energy. Fusion is the future of safe, clean energy, while Fission is currently used in power plants.”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3CB85C-B882-9F4E-8703-FFEE5737A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97624" y="2214519"/>
            <a:ext cx="8283679" cy="383212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02D074B-B6CB-EF25-BDE7-C497BFD9F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2710" y="2227022"/>
            <a:ext cx="2286000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😊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723A4C-EB9A-7FD8-E444-454C087A94EA}"/>
              </a:ext>
            </a:extLst>
          </p:cNvPr>
          <p:cNvSpPr txBox="1"/>
          <p:nvPr/>
        </p:nvSpPr>
        <p:spPr>
          <a:xfrm flipH="1">
            <a:off x="899652" y="4424516"/>
            <a:ext cx="18288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dirty="0"/>
              <a:t>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96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1026</TotalTime>
  <Words>592</Words>
  <Application>Microsoft Office PowerPoint</Application>
  <PresentationFormat>چوڑى سکرين</PresentationFormat>
  <Paragraphs>103</Paragraphs>
  <Slides>17</Slides>
  <Notes>0</Notes>
  <HiddenSlides>0</HiddenSlides>
  <MMClips>0</MMClips>
  <ScaleCrop>false</ScaleCrop>
  <HeadingPairs>
    <vt:vector size="6" baseType="variant">
      <vt:variant>
        <vt:lpstr>استعمال شدہ فانٹ</vt:lpstr>
      </vt:variant>
      <vt:variant>
        <vt:i4>9</vt:i4>
      </vt:variant>
      <vt:variant>
        <vt:lpstr>خياليہ</vt:lpstr>
      </vt:variant>
      <vt:variant>
        <vt:i4>1</vt:i4>
      </vt:variant>
      <vt:variant>
        <vt:lpstr>سلائيڈ کے عنوانات</vt:lpstr>
      </vt:variant>
      <vt:variant>
        <vt:i4>17</vt:i4>
      </vt:variant>
    </vt:vector>
  </HeadingPairs>
  <TitlesOfParts>
    <vt:vector size="27" baseType="lpstr">
      <vt:lpstr>Arial</vt:lpstr>
      <vt:lpstr>Arial Black</vt:lpstr>
      <vt:lpstr>Arial Rounded MT Bold</vt:lpstr>
      <vt:lpstr>Bahnschrift Light SemiCondensed</vt:lpstr>
      <vt:lpstr>Bell MT</vt:lpstr>
      <vt:lpstr>Bookman Old Style</vt:lpstr>
      <vt:lpstr>Tw Cen MT</vt:lpstr>
      <vt:lpstr>Tw Cen MT Condensed</vt:lpstr>
      <vt:lpstr>Wingdings 3</vt:lpstr>
      <vt:lpstr>Integral</vt:lpstr>
      <vt:lpstr>PowerPoint پيشکش</vt:lpstr>
      <vt:lpstr>PowerPoint پيشکش</vt:lpstr>
      <vt:lpstr>PowerPoint پيشکش</vt:lpstr>
      <vt:lpstr>PowerPoint پيشکش</vt:lpstr>
      <vt:lpstr>PowerPoint پيشکش</vt:lpstr>
      <vt:lpstr>PowerPoint پيشکش</vt:lpstr>
      <vt:lpstr>PowerPoint پيشکش</vt:lpstr>
      <vt:lpstr>PowerPoint پيشکش</vt:lpstr>
      <vt:lpstr>PowerPoint پيشکش</vt:lpstr>
      <vt:lpstr>PowerPoint پيشکش</vt:lpstr>
      <vt:lpstr>PowerPoint پيشکش</vt:lpstr>
      <vt:lpstr>PowerPoint پيشکش</vt:lpstr>
      <vt:lpstr>PowerPoint پيشکش</vt:lpstr>
      <vt:lpstr>PowerPoint پيشکش</vt:lpstr>
      <vt:lpstr>PowerPoint پيشکش</vt:lpstr>
      <vt:lpstr>PowerPoint پيشکش</vt:lpstr>
      <vt:lpstr>PowerPoint پيشکش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</dc:creator>
  <cp:lastModifiedBy>DIL</cp:lastModifiedBy>
  <cp:revision>7</cp:revision>
  <dcterms:created xsi:type="dcterms:W3CDTF">2025-10-18T18:30:03Z</dcterms:created>
  <dcterms:modified xsi:type="dcterms:W3CDTF">2025-10-20T15:28:57Z</dcterms:modified>
</cp:coreProperties>
</file>